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01000" y="-457200"/>
            <a:ext cx="4663440" cy="7589520"/>
          </a:xfrm>
          <a:prstGeom prst="roundRect">
            <a:avLst/>
          </a:prstGeom>
          <a:solidFill>
            <a:srgbClr val="15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49640" y="502920"/>
            <a:ext cx="3063240" cy="91440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49640" y="804672"/>
            <a:ext cx="2057400" cy="91440"/>
          </a:xfrm>
          <a:prstGeom prst="rect">
            <a:avLst/>
          </a:prstGeom>
          <a:solidFill>
            <a:srgbClr val="34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49640" y="1106424"/>
            <a:ext cx="1143000" cy="9144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68580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34D1BF"/>
                </a:solidFill>
                <a:latin typeface="Aptos"/>
              </a:defRPr>
            </a:pPr>
            <a:r>
              <a:t>INFORMATION RETRIEVAL · WEEKS 6–7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43000"/>
            <a:ext cx="7086600" cy="1508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Aptos Display"/>
              </a:defRPr>
            </a:pPr>
            <a:r>
              <a:t>From search system</a:t>
            </a:r>
            <a:br/>
            <a:r>
              <a:t>to measured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71800"/>
            <a:ext cx="64465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C9D4E7"/>
                </a:solidFill>
                <a:latin typeface="Aptos"/>
              </a:defRPr>
            </a:pPr>
            <a:r>
              <a:t>A concise evaluation of Binary Overlap, TF–IDF Cosine, and BM25 on the CISI information-retrieval project.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4251960"/>
            <a:ext cx="6263640" cy="18288"/>
          </a:xfrm>
          <a:prstGeom prst="rect">
            <a:avLst/>
          </a:prstGeom>
          <a:solidFill>
            <a:srgbClr val="27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553712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Sagar Shrestha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956048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Aptos"/>
              </a:defRPr>
            </a:pPr>
            <a:r>
              <a:t>Week 8 Project Findings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965960"/>
            <a:ext cx="2514600" cy="1261872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69096" y="2130552"/>
            <a:ext cx="207568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4F7CFF"/>
                </a:solidFill>
                <a:latin typeface="Aptos Display"/>
              </a:defRPr>
            </a:pPr>
            <a:r>
              <a:t>1,460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9096" y="2697480"/>
            <a:ext cx="20756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FULL CISI DOCUMENTS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3429000"/>
            <a:ext cx="2514600" cy="1261872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69096" y="3593592"/>
            <a:ext cx="207568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34D1BF"/>
                </a:solidFill>
                <a:latin typeface="Aptos Display"/>
              </a:defRPr>
            </a:pPr>
            <a:r>
              <a:t>0.948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4160520"/>
            <a:ext cx="20756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BEST DEMO 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4892040"/>
            <a:ext cx="2514600" cy="1261872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9096" y="5056631"/>
            <a:ext cx="207568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FFB454"/>
                </a:solidFill>
                <a:latin typeface="Aptos Display"/>
              </a:defRPr>
            </a:pPr>
            <a:r>
              <a:t>7/7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9096" y="5623559"/>
            <a:ext cx="20756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TESTS PASSED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01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804672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50" b="1">
                <a:solidFill>
                  <a:srgbClr val="4F7CFF"/>
                </a:solidFill>
                <a:latin typeface="Aptos"/>
              </a:defRPr>
            </a:pPr>
            <a:r>
              <a:t>EXECUTIVE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4241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600" b="1">
                <a:solidFill>
                  <a:srgbClr val="14213D"/>
                </a:solidFill>
                <a:latin typeface="Aptos Display"/>
              </a:defRPr>
            </a:pPr>
            <a:r>
              <a:t>What the project established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10896"/>
            <a:ext cx="438912" cy="329184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07592"/>
            <a:ext cx="105156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4213D"/>
                </a:solidFill>
                <a:latin typeface="Aptos"/>
              </a:rPr>
              <a:t>A working lexical search system</a:t>
            </a:r>
            <a:r>
              <a:rPr sz="1700" b="0">
                <a:solidFill>
                  <a:srgbClr val="52637A"/>
                </a:solidFill>
                <a:latin typeface="Aptos"/>
              </a:rPr>
              <a:t> was designed in Week 6; Week 7 added controlled model comparison and ranked-retrieval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48840"/>
            <a:ext cx="347472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148840"/>
            <a:ext cx="73152" cy="2240280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" y="2377440"/>
            <a:ext cx="438912" cy="402336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377440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2340864"/>
            <a:ext cx="2487168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14213D"/>
                </a:solidFill>
                <a:latin typeface="Aptos Display"/>
              </a:defRPr>
            </a:pPr>
            <a: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43784"/>
            <a:ext cx="3017520" cy="1380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52637A"/>
                </a:solidFill>
                <a:latin typeface="Aptos"/>
              </a:defRPr>
            </a:pPr>
            <a:r>
              <a:t>Parsed CISI-style records, normalized text, built an inverted index, and returned deterministic ranked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148840"/>
            <a:ext cx="347472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2148840"/>
            <a:ext cx="73152" cy="2240280"/>
          </a:xfrm>
          <a:prstGeom prst="rect">
            <a:avLst/>
          </a:prstGeom>
          <a:solidFill>
            <a:srgbClr val="EB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0288" y="2377440"/>
            <a:ext cx="438912" cy="402336"/>
          </a:xfrm>
          <a:prstGeom prst="roundRect">
            <a:avLst/>
          </a:prstGeom>
          <a:solidFill>
            <a:srgbClr val="EB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377440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340864"/>
            <a:ext cx="2487168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14213D"/>
                </a:solidFill>
                <a:latin typeface="Aptos Display"/>
              </a:defRPr>
            </a:pPr>
            <a:r>
              <a:t>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5" y="2843784"/>
            <a:ext cx="3017520" cy="1380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52637A"/>
                </a:solidFill>
                <a:latin typeface="Aptos"/>
              </a:defRPr>
            </a:pPr>
            <a:r>
              <a:t>Held data and preprocessing constant while changing only the scoring model: overlap, TF–IDF, or BM25.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2148840"/>
            <a:ext cx="347472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2148840"/>
            <a:ext cx="73152" cy="2240280"/>
          </a:xfrm>
          <a:prstGeom prst="rect">
            <a:avLst/>
          </a:prstGeom>
          <a:solidFill>
            <a:srgbClr val="34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38744" y="2377440"/>
            <a:ext cx="438912" cy="402336"/>
          </a:xfrm>
          <a:prstGeom prst="roundRect">
            <a:avLst/>
          </a:prstGeom>
          <a:solidFill>
            <a:srgbClr val="34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2377440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816" y="2340864"/>
            <a:ext cx="2487168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14213D"/>
                </a:solidFill>
                <a:latin typeface="Aptos Display"/>
              </a:defRPr>
            </a:pPr>
            <a:r>
              <a:t>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2843784"/>
            <a:ext cx="3017520" cy="1380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52637A"/>
                </a:solidFill>
                <a:latin typeface="Aptos"/>
              </a:defRPr>
            </a:pPr>
            <a:r>
              <a:t>Measured P@k, R@k, MAP, MRR, nDCG@k, latency, and query-level variation with tested formulas.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800600"/>
            <a:ext cx="10771632" cy="1024128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502920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FFB454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937760"/>
            <a:ext cx="90068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Keep TF–IDF as the explainable baseline; validate BM25 on the full CISI collection before selecting a production model.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804672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50" b="1">
                <a:solidFill>
                  <a:srgbClr val="4F7C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4241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 Display"/>
              </a:defRPr>
            </a:pPr>
            <a:r>
              <a:t>How can relevant documents be ranked—and trusted?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10896"/>
            <a:ext cx="438912" cy="329184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89888"/>
            <a:ext cx="553212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  <a:latin typeface="Aptos Display"/>
              </a:defRPr>
            </a:pPr>
            <a:r>
              <a:t>Natural-language queries rarely match document wording exactly. A useful system must rank partial matches, then prove that the ranking is effective.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5212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Aptos"/>
              </a:defRPr>
            </a:pPr>
            <a:r>
              <a:t>The project therefore had two linked problems: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218688"/>
            <a:ext cx="5257800" cy="1078992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3218688"/>
            <a:ext cx="73152" cy="1078992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" y="3447288"/>
            <a:ext cx="438912" cy="402336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447288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3410712"/>
            <a:ext cx="4270248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 Display"/>
              </a:defRPr>
            </a:pPr>
            <a:r>
              <a:t>Retrieval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13632"/>
            <a:ext cx="4800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C9D4E7"/>
                </a:solidFill>
                <a:latin typeface="Aptos"/>
              </a:defRPr>
            </a:pPr>
            <a:r>
              <a:t>Transform documents and queries into comparable representations, then produce a ranked top-k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480560"/>
            <a:ext cx="5257800" cy="1078992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4480560"/>
            <a:ext cx="73152" cy="1078992"/>
          </a:xfrm>
          <a:prstGeom prst="rect">
            <a:avLst/>
          </a:prstGeom>
          <a:solidFill>
            <a:srgbClr val="34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1832" y="4709160"/>
            <a:ext cx="438912" cy="402336"/>
          </a:xfrm>
          <a:prstGeom prst="roundRect">
            <a:avLst/>
          </a:prstGeom>
          <a:solidFill>
            <a:srgbClr val="34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709160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7904" y="4672584"/>
            <a:ext cx="4270248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 Display"/>
              </a:defRPr>
            </a:pPr>
            <a:r>
              <a:t>Evaluation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175504"/>
            <a:ext cx="4800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C9D4E7"/>
                </a:solidFill>
                <a:latin typeface="Aptos"/>
              </a:defRPr>
            </a:pPr>
            <a:r>
              <a:t>Use relevance judgments and complementary metrics to determine whether early and complete retrieval are good.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1417320"/>
            <a:ext cx="4526280" cy="4498848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1783080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1">
                <a:solidFill>
                  <a:srgbClr val="4F7CFF"/>
                </a:solidFill>
                <a:latin typeface="Aptos"/>
              </a:defRPr>
            </a:pPr>
            <a:r>
              <a:t>USER NEED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148840"/>
            <a:ext cx="36118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Aptos Display"/>
              </a:defRPr>
            </a:pPr>
            <a:r>
              <a:t>“automatic indexing and document retrieval”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054096"/>
            <a:ext cx="3566160" cy="18288"/>
          </a:xfrm>
          <a:prstGeom prst="rect">
            <a:avLst/>
          </a:prstGeom>
          <a:solidFill>
            <a:srgbClr val="27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23760" y="3310128"/>
            <a:ext cx="493776" cy="411480"/>
          </a:xfrm>
          <a:prstGeom prst="roundRect">
            <a:avLst/>
          </a:prstGeom>
          <a:solidFill>
            <a:srgbClr val="34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3310128"/>
            <a:ext cx="49377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0B102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3310128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50" b="1">
                <a:solidFill>
                  <a:srgbClr val="F8FAFC"/>
                </a:solidFill>
                <a:latin typeface="Aptos"/>
              </a:defRPr>
            </a:pPr>
            <a:r>
              <a:t>Automatic Indexing Experiments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3968496"/>
            <a:ext cx="493776" cy="411480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3968496"/>
            <a:ext cx="49377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0B102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3968496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50" b="0">
                <a:solidFill>
                  <a:srgbClr val="F8FAFC"/>
                </a:solidFill>
                <a:latin typeface="Aptos"/>
              </a:defRPr>
            </a:pPr>
            <a:r>
              <a:t>Abstracting Concepts and Methods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4626864"/>
            <a:ext cx="493776" cy="411480"/>
          </a:xfrm>
          <a:prstGeom prst="round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4626864"/>
            <a:ext cx="49377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0B102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4626864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50" b="0">
                <a:solidFill>
                  <a:srgbClr val="F8FAFC"/>
                </a:solidFill>
                <a:latin typeface="Aptos"/>
              </a:defRPr>
            </a:pPr>
            <a:r>
              <a:t>Construction and Use of a Thesaurus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431536"/>
            <a:ext cx="3611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50" b="0">
                <a:solidFill>
                  <a:srgbClr val="94A3B8"/>
                </a:solidFill>
                <a:latin typeface="Aptos"/>
              </a:defRPr>
            </a:pPr>
            <a:r>
              <a:t>The ordering—not just the matches—is the product.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804672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50" b="1">
                <a:solidFill>
                  <a:srgbClr val="4F7CF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4241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600" b="1">
                <a:solidFill>
                  <a:srgbClr val="14213D"/>
                </a:solidFill>
                <a:latin typeface="Aptos Display"/>
              </a:defRPr>
            </a:pPr>
            <a:r>
              <a:t>CISI: a compact, relevance-judged IR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10896"/>
            <a:ext cx="438912" cy="329184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47104"/>
            <a:ext cx="10881360" cy="155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Aptos"/>
              </a:defRPr>
            </a:pPr>
            <a:r>
              <a:t>Source: University of Glasgow IR Test Collections · ir.dcs.gla.ac.uk/resources/test_collections/cisi/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53312"/>
            <a:ext cx="333756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17904"/>
            <a:ext cx="289864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4F7CFF"/>
                </a:solidFill>
                <a:latin typeface="Aptos Display"/>
              </a:defRPr>
            </a:pPr>
            <a:r>
              <a:t>1,460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84832"/>
            <a:ext cx="289864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14213D"/>
                </a:solidFill>
                <a:latin typeface="Aptos"/>
              </a:defRPr>
            </a:pPr>
            <a:r>
              <a:t>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59152"/>
            <a:ext cx="28986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Library and information-science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2816" y="1353312"/>
            <a:ext cx="333756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517904"/>
            <a:ext cx="289864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EB5CA8"/>
                </a:solidFill>
                <a:latin typeface="Aptos Display"/>
              </a:defRPr>
            </a:pPr>
            <a:r>
              <a:t>112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084832"/>
            <a:ext cx="289864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14213D"/>
                </a:solidFill>
                <a:latin typeface="Aptos"/>
              </a:defRPr>
            </a:pPr>
            <a:r>
              <a:t>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359152"/>
            <a:ext cx="28986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Natural-language information needs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353312"/>
            <a:ext cx="333756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1856" y="1517904"/>
            <a:ext cx="289864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34D1BF"/>
                </a:solidFill>
                <a:latin typeface="Aptos Display"/>
              </a:defRPr>
            </a:pPr>
            <a:r>
              <a:t>3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2084832"/>
            <a:ext cx="289864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14213D"/>
                </a:solidFill>
                <a:latin typeface="Aptos"/>
              </a:defRPr>
            </a:pPr>
            <a:r>
              <a:t>TEST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6" y="2359152"/>
            <a:ext cx="28986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Documents · queries · relevance judgments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218688"/>
            <a:ext cx="27432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4213D"/>
                </a:solidFill>
                <a:latin typeface="Aptos Display"/>
              </a:defRPr>
            </a:pPr>
            <a:r>
              <a:t>Two evidence layers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703320"/>
            <a:ext cx="5074920" cy="16642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703320"/>
            <a:ext cx="73152" cy="1664208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1832" y="3931920"/>
            <a:ext cx="438912" cy="402336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3931920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Aptos"/>
              </a:defRPr>
            </a:pPr>
            <a:r>
              <a:t>FULL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7904" y="3895344"/>
            <a:ext cx="4087368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14213D"/>
                </a:solidFill>
                <a:latin typeface="Aptos Display"/>
              </a:defRPr>
            </a:pPr>
            <a:r>
              <a:t>Full benchmark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398264"/>
            <a:ext cx="461772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52637A"/>
                </a:solidFill>
                <a:latin typeface="Aptos"/>
              </a:defRPr>
            </a:pPr>
            <a:r>
              <a:t>CISI.ALL, CISI.QRY, and CISI.REL support evaluation over the official 1,460-document collection. The code includes download, parsing, and validation.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3703320"/>
            <a:ext cx="5120640" cy="16642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89320" y="3703320"/>
            <a:ext cx="73152" cy="1664208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0" y="3931920"/>
            <a:ext cx="438912" cy="402336"/>
          </a:xfrm>
          <a:prstGeom prst="round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931920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992" y="3895344"/>
            <a:ext cx="4133087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14213D"/>
                </a:solidFill>
                <a:latin typeface="Aptos Display"/>
              </a:defRPr>
            </a:pPr>
            <a:r>
              <a:t>Executed offline 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4398264"/>
            <a:ext cx="466344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52637A"/>
                </a:solidFill>
                <a:latin typeface="Aptos"/>
              </a:defRPr>
            </a:pPr>
            <a:r>
              <a:t>18 concise records, 8 queries, and manual binary judgments prove the pipeline in a restricted environment. These scores are illustrative—not benchmark claims.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5669280"/>
            <a:ext cx="10396728" cy="475488"/>
          </a:xfrm>
          <a:prstGeom prst="roundRect">
            <a:avLst/>
          </a:prstGeom>
          <a:solidFill>
            <a:srgbClr val="FFF3DF"/>
          </a:solidFill>
          <a:ln w="12700">
            <a:solidFill>
              <a:srgbClr val="F6D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760720"/>
            <a:ext cx="992124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8A4B08"/>
                </a:solidFill>
                <a:latin typeface="Aptos"/>
              </a:defRPr>
            </a:pPr>
            <a:r>
              <a:t>Interpretation rule  →  never generalize demonstration scores to the full CISI collection.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804672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50" b="1">
                <a:solidFill>
                  <a:srgbClr val="4F7CFF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4241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600" b="1">
                <a:solidFill>
                  <a:srgbClr val="14213D"/>
                </a:solidFill>
                <a:latin typeface="Aptos Display"/>
              </a:defRPr>
            </a:pPr>
            <a:r>
              <a:t>One pipeline, three scoring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10896"/>
            <a:ext cx="438912" cy="329184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81328"/>
            <a:ext cx="1627632" cy="13898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645920"/>
            <a:ext cx="438912" cy="365760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459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84831"/>
            <a:ext cx="1298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4213D"/>
                </a:solidFill>
                <a:latin typeface="Aptos Display"/>
              </a:defRPr>
            </a:pPr>
            <a:r>
              <a:t>Parse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32304"/>
            <a:ext cx="12984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.I / .T / .A / .W</a:t>
            </a:r>
          </a:p>
        </p:txBody>
      </p:sp>
      <p:sp>
        <p:nvSpPr>
          <p:cNvPr id="11" name="Chevron 10"/>
          <p:cNvSpPr/>
          <p:nvPr/>
        </p:nvSpPr>
        <p:spPr>
          <a:xfrm>
            <a:off x="2286000" y="1993392"/>
            <a:ext cx="310896" cy="384048"/>
          </a:xfrm>
          <a:prstGeom prst="chevron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42032" y="1481328"/>
            <a:ext cx="1627632" cy="13898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06624" y="1645920"/>
            <a:ext cx="438912" cy="365760"/>
          </a:xfrm>
          <a:prstGeom prst="roundRect">
            <a:avLst/>
          </a:prstGeom>
          <a:solidFill>
            <a:srgbClr val="34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6624" y="16459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4" y="2084831"/>
            <a:ext cx="1298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4213D"/>
                </a:solidFill>
                <a:latin typeface="Aptos Display"/>
              </a:defRPr>
            </a:pPr>
            <a:r>
              <a:t>Normalize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6624" y="2432304"/>
            <a:ext cx="12984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lowercase · tokenize</a:t>
            </a:r>
          </a:p>
        </p:txBody>
      </p:sp>
      <p:sp>
        <p:nvSpPr>
          <p:cNvPr id="17" name="Chevron 16"/>
          <p:cNvSpPr/>
          <p:nvPr/>
        </p:nvSpPr>
        <p:spPr>
          <a:xfrm>
            <a:off x="4206240" y="1993392"/>
            <a:ext cx="310896" cy="384048"/>
          </a:xfrm>
          <a:prstGeom prst="chevron">
            <a:avLst/>
          </a:prstGeom>
          <a:solidFill>
            <a:srgbClr val="34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62272" y="1481328"/>
            <a:ext cx="1627632" cy="13898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26864" y="1645920"/>
            <a:ext cx="438912" cy="365760"/>
          </a:xfrm>
          <a:prstGeom prst="roundRect">
            <a:avLst/>
          </a:prstGeom>
          <a:solidFill>
            <a:srgbClr val="55C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16459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2084831"/>
            <a:ext cx="1298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4213D"/>
                </a:solidFill>
                <a:latin typeface="Aptos Display"/>
              </a:defRPr>
            </a:pPr>
            <a:r>
              <a:t>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2432304"/>
            <a:ext cx="12984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stop words · stemming</a:t>
            </a:r>
          </a:p>
        </p:txBody>
      </p:sp>
      <p:sp>
        <p:nvSpPr>
          <p:cNvPr id="23" name="Chevron 22"/>
          <p:cNvSpPr/>
          <p:nvPr/>
        </p:nvSpPr>
        <p:spPr>
          <a:xfrm>
            <a:off x="6126480" y="1993392"/>
            <a:ext cx="310896" cy="384048"/>
          </a:xfrm>
          <a:prstGeom prst="chevron">
            <a:avLst/>
          </a:prstGeom>
          <a:solidFill>
            <a:srgbClr val="55C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82512" y="1481328"/>
            <a:ext cx="1627632" cy="13898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47104" y="1645920"/>
            <a:ext cx="438912" cy="365760"/>
          </a:xfrm>
          <a:prstGeom prst="round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7104" y="16459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2084831"/>
            <a:ext cx="1298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4213D"/>
                </a:solidFill>
                <a:latin typeface="Aptos Display"/>
              </a:defRPr>
            </a:pPr>
            <a:r>
              <a:t>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2432304"/>
            <a:ext cx="12984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term → doc / tf</a:t>
            </a:r>
          </a:p>
        </p:txBody>
      </p:sp>
      <p:sp>
        <p:nvSpPr>
          <p:cNvPr id="29" name="Chevron 28"/>
          <p:cNvSpPr/>
          <p:nvPr/>
        </p:nvSpPr>
        <p:spPr>
          <a:xfrm>
            <a:off x="8046720" y="1993392"/>
            <a:ext cx="310896" cy="384048"/>
          </a:xfrm>
          <a:prstGeom prst="chevron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02752" y="1481328"/>
            <a:ext cx="1627632" cy="13898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67344" y="1645920"/>
            <a:ext cx="438912" cy="365760"/>
          </a:xfrm>
          <a:prstGeom prst="roundRect">
            <a:avLst/>
          </a:prstGeom>
          <a:solidFill>
            <a:srgbClr val="EB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67344" y="16459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7344" y="2084831"/>
            <a:ext cx="1298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4213D"/>
                </a:solidFill>
                <a:latin typeface="Aptos Display"/>
              </a:defRPr>
            </a:pPr>
            <a:r>
              <a:t>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2432304"/>
            <a:ext cx="12984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model-specific</a:t>
            </a:r>
          </a:p>
        </p:txBody>
      </p:sp>
      <p:sp>
        <p:nvSpPr>
          <p:cNvPr id="35" name="Chevron 34"/>
          <p:cNvSpPr/>
          <p:nvPr/>
        </p:nvSpPr>
        <p:spPr>
          <a:xfrm>
            <a:off x="9966960" y="1993392"/>
            <a:ext cx="310896" cy="384048"/>
          </a:xfrm>
          <a:prstGeom prst="chevron">
            <a:avLst/>
          </a:prstGeom>
          <a:solidFill>
            <a:srgbClr val="EB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222992" y="1481328"/>
            <a:ext cx="1627632" cy="13898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387584" y="1645920"/>
            <a:ext cx="438912" cy="365760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87584" y="16459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87584" y="2084831"/>
            <a:ext cx="12984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14213D"/>
                </a:solidFill>
                <a:latin typeface="Aptos Display"/>
              </a:defRPr>
            </a:pPr>
            <a:r>
              <a:t>Rank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87584" y="2432304"/>
            <a:ext cx="12984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top-k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338328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4213D"/>
                </a:solidFill>
                <a:latin typeface="Aptos Display"/>
              </a:defRPr>
            </a:pPr>
            <a:r>
              <a:t>Controlled comparison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3858768"/>
            <a:ext cx="10744200" cy="1627632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215384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34D1BF"/>
                </a:solidFill>
                <a:latin typeface="Aptos"/>
              </a:defRPr>
            </a:pPr>
            <a:r>
              <a:t>Same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4590288"/>
            <a:ext cx="208483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C9D4E7"/>
                </a:solidFill>
                <a:latin typeface="Aptos"/>
              </a:defRPr>
            </a:pPr>
            <a:r>
              <a:t>Documents, queries, judgments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82112" y="4215384"/>
            <a:ext cx="18287" cy="859535"/>
          </a:xfrm>
          <a:prstGeom prst="rect">
            <a:avLst/>
          </a:prstGeom>
          <a:solidFill>
            <a:srgbClr val="27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6160" y="4215384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34D1BF"/>
                </a:solidFill>
                <a:latin typeface="Aptos"/>
              </a:defRPr>
            </a:pPr>
            <a:r>
              <a:t>Same representation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160" y="4590288"/>
            <a:ext cx="208483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C9D4E7"/>
                </a:solidFill>
                <a:latin typeface="Aptos"/>
              </a:defRPr>
            </a:pPr>
            <a:r>
              <a:t>Title boost and preprocessing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88152" y="4215384"/>
            <a:ext cx="18288" cy="859535"/>
          </a:xfrm>
          <a:prstGeom prst="rect">
            <a:avLst/>
          </a:prstGeom>
          <a:solidFill>
            <a:srgbClr val="27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4215384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34D1BF"/>
                </a:solidFill>
                <a:latin typeface="Aptos"/>
              </a:defRPr>
            </a:pPr>
            <a:r>
              <a:t>Same cut-offs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4590288"/>
            <a:ext cx="208483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C9D4E7"/>
                </a:solidFill>
                <a:latin typeface="Aptos"/>
              </a:defRPr>
            </a:pPr>
            <a:r>
              <a:t>k = 1, 3, 5, 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94192" y="4215384"/>
            <a:ext cx="18287" cy="859535"/>
          </a:xfrm>
          <a:prstGeom prst="rect">
            <a:avLst/>
          </a:prstGeom>
          <a:solidFill>
            <a:srgbClr val="27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4215384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FB454"/>
                </a:solidFill>
                <a:latin typeface="Aptos"/>
              </a:defRPr>
            </a:pPr>
            <a:r>
              <a:t>Only score changes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4590288"/>
            <a:ext cx="2084831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C9D4E7"/>
                </a:solidFill>
                <a:latin typeface="Aptos"/>
              </a:defRPr>
            </a:pPr>
            <a:r>
              <a:t>Fair model comparison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" y="5833872"/>
            <a:ext cx="10744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52637A"/>
                </a:solidFill>
                <a:latin typeface="Aptos"/>
              </a:defRPr>
            </a:pPr>
            <a:r>
              <a:t>Design principle: hold everything constant except the retrieval function.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804672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50" b="1">
                <a:solidFill>
                  <a:srgbClr val="4F7CFF"/>
                </a:solidFill>
                <a:latin typeface="Aptos"/>
              </a:defRPr>
            </a:pPr>
            <a:r>
              <a:t>RETRIEVAL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4241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 Display"/>
              </a:defRPr>
            </a:pPr>
            <a:r>
              <a:t>Three increasingly expressive lexical baselines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10896"/>
            <a:ext cx="438912" cy="329184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47104"/>
            <a:ext cx="10881360" cy="155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Aptos"/>
              </a:defRPr>
            </a:pPr>
            <a:r>
              <a:t>Methods: Manning, Raghavan &amp; Schütze (2008); Robertson &amp; Zaragoza (2009)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44752"/>
            <a:ext cx="3200400" cy="4370832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9264" y="1719072"/>
            <a:ext cx="1325880" cy="274320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71907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750" b="1">
                <a:solidFill>
                  <a:srgbClr val="0B1020"/>
                </a:solidFill>
                <a:latin typeface="Aptos"/>
              </a:defRPr>
            </a:pPr>
            <a:r>
              <a:t>TERM PRESENCE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212848"/>
            <a:ext cx="26700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ptos Display"/>
              </a:defRPr>
            </a:pPr>
            <a:r>
              <a:t>Binary overlap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52928"/>
            <a:ext cx="267004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C9D4E7"/>
                </a:solidFill>
                <a:latin typeface="Aptos"/>
              </a:defRPr>
            </a:pPr>
            <a:r>
              <a:t>Coverage of unique query terms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" y="3675887"/>
            <a:ext cx="2670048" cy="18288"/>
          </a:xfrm>
          <a:prstGeom prst="rect">
            <a:avLst/>
          </a:prstGeom>
          <a:solidFill>
            <a:srgbClr val="27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950208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55C38E"/>
                </a:solidFill>
                <a:latin typeface="Aptos"/>
              </a:defRPr>
            </a:pPr>
            <a:r>
              <a:t>STRENGTH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224528"/>
            <a:ext cx="267004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8FAFC"/>
                </a:solidFill>
                <a:latin typeface="Aptos"/>
              </a:defRPr>
            </a:pPr>
            <a:r>
              <a:t>Fast and transparent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84632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FFB454"/>
                </a:solidFill>
                <a:latin typeface="Aptos"/>
              </a:defRPr>
            </a:pPr>
            <a:r>
              <a:t>TRADE-OFF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5120640"/>
            <a:ext cx="26700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F8FAFC"/>
                </a:solidFill>
                <a:latin typeface="Aptos"/>
              </a:defRPr>
            </a:pPr>
            <a:r>
              <a:t>No rarity or length signal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1444752"/>
            <a:ext cx="3200400" cy="4370832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16552" y="1719072"/>
            <a:ext cx="1325880" cy="274320"/>
          </a:xfrm>
          <a:prstGeom prst="roundRect">
            <a:avLst/>
          </a:prstGeom>
          <a:solidFill>
            <a:srgbClr val="EB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171907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750" b="1">
                <a:solidFill>
                  <a:srgbClr val="0B1020"/>
                </a:solidFill>
                <a:latin typeface="Aptos"/>
              </a:defRPr>
            </a:pPr>
            <a:r>
              <a:t>WEIGHTED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212848"/>
            <a:ext cx="26700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ptos Display"/>
              </a:defRPr>
            </a:pPr>
            <a:r>
              <a:t>TF–IDF cosine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2852928"/>
            <a:ext cx="267004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C9D4E7"/>
                </a:solidFill>
                <a:latin typeface="Aptos"/>
              </a:defRPr>
            </a:pPr>
            <a:r>
              <a:t>log TF × smooth IDF × cosine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6552" y="3675887"/>
            <a:ext cx="2670048" cy="18288"/>
          </a:xfrm>
          <a:prstGeom prst="rect">
            <a:avLst/>
          </a:prstGeom>
          <a:solidFill>
            <a:srgbClr val="27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6552" y="3950208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55C38E"/>
                </a:solidFill>
                <a:latin typeface="Aptos"/>
              </a:defRPr>
            </a:pPr>
            <a:r>
              <a:t>STRENGTH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4224528"/>
            <a:ext cx="267004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8FAFC"/>
                </a:solidFill>
                <a:latin typeface="Aptos"/>
              </a:defRPr>
            </a:pPr>
            <a:r>
              <a:t>Best demonstration 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84632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FFB454"/>
                </a:solidFill>
                <a:latin typeface="Aptos"/>
              </a:defRPr>
            </a:pPr>
            <a:r>
              <a:t>TRADE-OFF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5120640"/>
            <a:ext cx="26700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F8FAFC"/>
                </a:solidFill>
                <a:latin typeface="Aptos"/>
              </a:defRPr>
            </a:pPr>
            <a:r>
              <a:t>Lexical mismatch remains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07808" y="1444752"/>
            <a:ext cx="3200400" cy="4370832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63840" y="1719072"/>
            <a:ext cx="1325880" cy="274320"/>
          </a:xfrm>
          <a:prstGeom prst="roundRect">
            <a:avLst/>
          </a:prstGeom>
          <a:solidFill>
            <a:srgbClr val="34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171907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750" b="1">
                <a:solidFill>
                  <a:srgbClr val="0B1020"/>
                </a:solidFill>
                <a:latin typeface="Aptos"/>
              </a:defRPr>
            </a:pPr>
            <a:r>
              <a:t>PROBABILISTIC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212848"/>
            <a:ext cx="26700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ptos Display"/>
              </a:defRPr>
            </a:pPr>
            <a:r>
              <a:t>BM25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2852928"/>
            <a:ext cx="267004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C9D4E7"/>
                </a:solidFill>
                <a:latin typeface="Aptos"/>
              </a:defRPr>
            </a:pPr>
            <a:r>
              <a:t>IDF + TF saturation + length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3675887"/>
            <a:ext cx="2670048" cy="18288"/>
          </a:xfrm>
          <a:prstGeom prst="rect">
            <a:avLst/>
          </a:prstGeom>
          <a:solidFill>
            <a:srgbClr val="27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3950208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55C38E"/>
                </a:solidFill>
                <a:latin typeface="Aptos"/>
              </a:defRPr>
            </a:pPr>
            <a:r>
              <a:t>STRENGTH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224528"/>
            <a:ext cx="267004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1">
                <a:solidFill>
                  <a:srgbClr val="F8FAFC"/>
                </a:solidFill>
                <a:latin typeface="Aptos"/>
              </a:defRPr>
            </a:pPr>
            <a:r>
              <a:t>Strong classic baseline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84632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1">
                <a:solidFill>
                  <a:srgbClr val="FFB454"/>
                </a:solidFill>
                <a:latin typeface="Aptos"/>
              </a:defRPr>
            </a:pPr>
            <a:r>
              <a:t>TRADE-OFF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120640"/>
            <a:ext cx="2670048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F8FAFC"/>
                </a:solidFill>
                <a:latin typeface="Aptos"/>
              </a:defRPr>
            </a:pPr>
            <a:r>
              <a:t>Parameters need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6080760"/>
            <a:ext cx="10104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ptos"/>
              </a:defRPr>
            </a:pPr>
            <a:r>
              <a:t>The score scales differ; compare rankings and metrics—not raw scores.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804672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50" b="1">
                <a:solidFill>
                  <a:srgbClr val="4F7CF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4241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600" b="1">
                <a:solidFill>
                  <a:srgbClr val="14213D"/>
                </a:solidFill>
                <a:latin typeface="Aptos Display"/>
              </a:defRPr>
            </a:pPr>
            <a:r>
              <a:t>Complementary metrics answer different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10896"/>
            <a:ext cx="438912" cy="329184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47104"/>
            <a:ext cx="10881360" cy="155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Aptos"/>
              </a:defRPr>
            </a:pPr>
            <a:r>
              <a:t>Evaluation definitions: Introduction to Information Retrieval, Chapter 8 · nDCG: Järvelin &amp; Kekäläinen (2002)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71600"/>
            <a:ext cx="338328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1545336"/>
            <a:ext cx="841248" cy="658368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45336"/>
            <a:ext cx="8412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0B1020"/>
                </a:solidFill>
                <a:latin typeface="Aptos"/>
              </a:defRPr>
            </a:pPr>
            <a:r>
              <a:t>P@k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3664" y="1572768"/>
            <a:ext cx="1993392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4213D"/>
                </a:solidFill>
                <a:latin typeface="Aptos"/>
              </a:defRPr>
            </a:pPr>
            <a:r>
              <a:t>How pure is the top-k list?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71600"/>
            <a:ext cx="338328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35424" y="1545336"/>
            <a:ext cx="841248" cy="658368"/>
          </a:xfrm>
          <a:prstGeom prst="roundRect">
            <a:avLst/>
          </a:prstGeom>
          <a:solidFill>
            <a:srgbClr val="34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545336"/>
            <a:ext cx="8412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0B1020"/>
                </a:solidFill>
                <a:latin typeface="Aptos"/>
              </a:defRPr>
            </a:pPr>
            <a:r>
              <a:t>R@k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1264" y="1572768"/>
            <a:ext cx="1993392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4213D"/>
                </a:solidFill>
                <a:latin typeface="Aptos"/>
              </a:defRPr>
            </a:pPr>
            <a:r>
              <a:t>How much relevant material was found?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371600"/>
            <a:ext cx="338328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93023" y="1545336"/>
            <a:ext cx="841248" cy="658368"/>
          </a:xfrm>
          <a:prstGeom prst="roundRect">
            <a:avLst/>
          </a:prstGeom>
          <a:solidFill>
            <a:srgbClr val="EB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3" y="1545336"/>
            <a:ext cx="8412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0B1020"/>
                </a:solidFill>
                <a:latin typeface="Aptos"/>
              </a:defRPr>
            </a:pPr>
            <a:r>
              <a:t>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3" y="1572768"/>
            <a:ext cx="1993392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4213D"/>
                </a:solidFill>
                <a:latin typeface="Aptos"/>
              </a:defRPr>
            </a:pPr>
            <a:r>
              <a:t>Are all relevant items ranked early?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2697480"/>
            <a:ext cx="525780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7824" y="2871216"/>
            <a:ext cx="841248" cy="658368"/>
          </a:xfrm>
          <a:prstGeom prst="round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2871216"/>
            <a:ext cx="8412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0B1020"/>
                </a:solidFill>
                <a:latin typeface="Aptos"/>
              </a:defRPr>
            </a:pPr>
            <a:r>
              <a:t>MRR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83664" y="2898648"/>
            <a:ext cx="3867912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4213D"/>
                </a:solidFill>
                <a:latin typeface="Aptos"/>
              </a:defRPr>
            </a:pPr>
            <a:r>
              <a:t>How soon is the first useful result?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2697480"/>
            <a:ext cx="525780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45936" y="2871216"/>
            <a:ext cx="841248" cy="658368"/>
          </a:xfrm>
          <a:prstGeom prst="roundRect">
            <a:avLst/>
          </a:prstGeom>
          <a:solidFill>
            <a:srgbClr val="55C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2871216"/>
            <a:ext cx="8412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0B1020"/>
                </a:solidFill>
                <a:latin typeface="Aptos"/>
              </a:defRPr>
            </a:pPr>
            <a:r>
              <a:t>nDCG@k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6" y="2898648"/>
            <a:ext cx="3867912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1">
                <a:solidFill>
                  <a:srgbClr val="14213D"/>
                </a:solidFill>
                <a:latin typeface="Aptos"/>
              </a:defRPr>
            </a:pPr>
            <a:r>
              <a:t>Is relevance concentrated near the top?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251960"/>
            <a:ext cx="10744200" cy="1389888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517136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FFB454"/>
                </a:solidFill>
                <a:latin typeface="Aptos"/>
              </a:defRPr>
            </a:pPr>
            <a:r>
              <a:t>Evaluation protocol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4471416"/>
            <a:ext cx="1719072" cy="585216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4471416"/>
            <a:ext cx="1536192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8 judged queries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4471416"/>
            <a:ext cx="1719072" cy="585216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59" y="4471416"/>
            <a:ext cx="1536192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Full ranking for MAP / MRR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4471416"/>
            <a:ext cx="1719072" cy="585216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59" y="4471416"/>
            <a:ext cx="1536192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k = 1, 3, 5, 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0" y="4471416"/>
            <a:ext cx="1719072" cy="585216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4471416"/>
            <a:ext cx="1536192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500 timing repetitions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166360"/>
            <a:ext cx="9966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50" b="0">
                <a:solidFill>
                  <a:srgbClr val="94A3B8"/>
                </a:solidFill>
                <a:latin typeface="Aptos"/>
              </a:defRPr>
            </a:pPr>
            <a:r>
              <a:t>Effectiveness is the primary outcome. Sub-millisecond latency is descriptive only.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804672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50" b="1">
                <a:solidFill>
                  <a:srgbClr val="4F7CFF"/>
                </a:solidFill>
                <a:latin typeface="Aptos"/>
              </a:defRPr>
            </a:pPr>
            <a: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4241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600" b="1">
                <a:solidFill>
                  <a:srgbClr val="14213D"/>
                </a:solidFill>
                <a:latin typeface="Aptos Display"/>
              </a:defRPr>
            </a:pPr>
            <a:r>
              <a:t>Ranking quality differs even when recall is identical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10896"/>
            <a:ext cx="438912" cy="329184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271016"/>
            <a:ext cx="2029968" cy="11521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35607"/>
            <a:ext cx="1591056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4F7CFF"/>
                </a:solidFill>
                <a:latin typeface="Aptos Display"/>
              </a:defRPr>
            </a:pPr>
            <a:r>
              <a:t>0.325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02536"/>
            <a:ext cx="159105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14213D"/>
                </a:solidFill>
                <a:latin typeface="Aptos"/>
              </a:defRPr>
            </a:pPr>
            <a:r>
              <a:t>P@5 · ALL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271016"/>
            <a:ext cx="2029968" cy="11521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8104" y="1435607"/>
            <a:ext cx="1591056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700" b="1">
                <a:solidFill>
                  <a:srgbClr val="34D1BF"/>
                </a:solidFill>
                <a:latin typeface="Aptos Display"/>
              </a:defRPr>
            </a:pPr>
            <a:r>
              <a:t>1.000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4" y="2002536"/>
            <a:ext cx="159105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14213D"/>
                </a:solidFill>
                <a:latin typeface="Aptos"/>
              </a:defRPr>
            </a:pPr>
            <a:r>
              <a:t>R@5 · ALL 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9512" y="1271016"/>
            <a:ext cx="6217920" cy="1152144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C8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1481328"/>
            <a:ext cx="5440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 Display"/>
              </a:defRPr>
            </a:pPr>
            <a:r>
              <a:t>Same coverage, different ordering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1856231"/>
            <a:ext cx="5440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0">
                <a:solidFill>
                  <a:srgbClr val="52637A"/>
                </a:solidFill>
                <a:latin typeface="Aptos"/>
              </a:defRPr>
            </a:pPr>
            <a:r>
              <a:t>MAP, MRR, and nDCG reveal differences hidden by P@5 and R@5.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889504"/>
            <a:ext cx="19202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14213D"/>
                </a:solidFill>
                <a:latin typeface="Aptos"/>
              </a:defRPr>
            </a:pPr>
            <a:r>
              <a:t>Binary overlap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670048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953512"/>
            <a:ext cx="2240280" cy="2011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2953512"/>
            <a:ext cx="2100262" cy="201168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288036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14213D"/>
                </a:solidFill>
                <a:latin typeface="Aptos"/>
              </a:defRPr>
            </a:pPr>
            <a:r>
              <a:t>0.937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670048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MRR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2953512"/>
            <a:ext cx="2240280" cy="2011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0" y="2953512"/>
            <a:ext cx="2240280" cy="201168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288036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14213D"/>
                </a:solidFill>
                <a:latin typeface="Aptos"/>
              </a:defRPr>
            </a:pPr>
            <a:r>
              <a:t>1.000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670048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nDCG@5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2953512"/>
            <a:ext cx="2240280" cy="2011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95360" y="2953512"/>
            <a:ext cx="2172837" cy="201168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27080" y="288036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14213D"/>
                </a:solidFill>
                <a:latin typeface="Aptos"/>
              </a:defRPr>
            </a:pPr>
            <a:r>
              <a:t>0.970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3840480"/>
            <a:ext cx="19202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14213D"/>
                </a:solidFill>
                <a:latin typeface="Aptos"/>
              </a:defRPr>
            </a:pPr>
            <a:r>
              <a:t>TF-IDF cosine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621024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3904488"/>
            <a:ext cx="2240280" cy="2011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43200" y="3904488"/>
            <a:ext cx="2123598" cy="201168"/>
          </a:xfrm>
          <a:prstGeom prst="roundRect">
            <a:avLst/>
          </a:prstGeom>
          <a:solidFill>
            <a:srgbClr val="EB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3831336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14213D"/>
                </a:solidFill>
                <a:latin typeface="Aptos"/>
              </a:defRPr>
            </a:pPr>
            <a:r>
              <a:t>0.948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621024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MRR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0" y="3904488"/>
            <a:ext cx="2240280" cy="2011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0" y="3904488"/>
            <a:ext cx="2100262" cy="201168"/>
          </a:xfrm>
          <a:prstGeom prst="roundRect">
            <a:avLst/>
          </a:prstGeom>
          <a:solidFill>
            <a:srgbClr val="EB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3831336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14213D"/>
                </a:solidFill>
                <a:latin typeface="Aptos"/>
              </a:defRPr>
            </a:pPr>
            <a:r>
              <a:t>0.938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621024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nDCG@5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95360" y="3904488"/>
            <a:ext cx="2240280" cy="2011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95360" y="3904488"/>
            <a:ext cx="2154428" cy="201168"/>
          </a:xfrm>
          <a:prstGeom prst="roundRect">
            <a:avLst/>
          </a:prstGeom>
          <a:solidFill>
            <a:srgbClr val="EB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27080" y="3831336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14213D"/>
                </a:solidFill>
                <a:latin typeface="Aptos"/>
              </a:defRPr>
            </a:pPr>
            <a:r>
              <a:t>0.962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791456"/>
            <a:ext cx="19202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1">
                <a:solidFill>
                  <a:srgbClr val="14213D"/>
                </a:solidFill>
                <a:latin typeface="Aptos"/>
              </a:defRPr>
            </a:pPr>
            <a:r>
              <a:t>BM25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457200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MAP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0" y="4855464"/>
            <a:ext cx="2240280" cy="2011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743200" y="4855464"/>
            <a:ext cx="2076926" cy="201168"/>
          </a:xfrm>
          <a:prstGeom prst="roundRect">
            <a:avLst/>
          </a:prstGeom>
          <a:solidFill>
            <a:srgbClr val="34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82312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14213D"/>
                </a:solidFill>
                <a:latin typeface="Aptos"/>
              </a:defRPr>
            </a:pPr>
            <a:r>
              <a:t>0.927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57200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MRR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0" y="4855464"/>
            <a:ext cx="2240280" cy="2011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669280" y="4855464"/>
            <a:ext cx="2100262" cy="201168"/>
          </a:xfrm>
          <a:prstGeom prst="roundRect">
            <a:avLst/>
          </a:prstGeom>
          <a:solidFill>
            <a:srgbClr val="34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01000" y="4782312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14213D"/>
                </a:solidFill>
                <a:latin typeface="Aptos"/>
              </a:defRPr>
            </a:pPr>
            <a:r>
              <a:t>0.938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572000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nDCG@5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95360" y="4855464"/>
            <a:ext cx="2240280" cy="2011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595360" y="4855464"/>
            <a:ext cx="2131947" cy="201168"/>
          </a:xfrm>
          <a:prstGeom prst="roundRect">
            <a:avLst/>
          </a:prstGeom>
          <a:solidFill>
            <a:srgbClr val="34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27080" y="4782312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14213D"/>
                </a:solidFill>
                <a:latin typeface="Aptos"/>
              </a:defRPr>
            </a:pPr>
            <a:r>
              <a:t>0.952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232" y="5669280"/>
            <a:ext cx="10744200" cy="512064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" y="5769864"/>
            <a:ext cx="214884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FFB454"/>
                </a:solidFill>
                <a:latin typeface="Aptos"/>
              </a:defRPr>
            </a:pPr>
            <a:r>
              <a:t>Winner depends on the question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71800" y="5751576"/>
            <a:ext cx="79095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TF–IDF leads MAP · Binary overlap leads MRR and nDCG@5 · BM25 remains competitive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804672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50" b="1">
                <a:solidFill>
                  <a:srgbClr val="4F7CFF"/>
                </a:solidFill>
                <a:latin typeface="Aptos"/>
              </a:defRPr>
            </a:pPr>
            <a:r>
              <a:t>MAJOR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4241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600" b="1">
                <a:solidFill>
                  <a:srgbClr val="14213D"/>
                </a:solidFill>
                <a:latin typeface="Aptos Display"/>
              </a:defRPr>
            </a:pPr>
            <a:r>
              <a:t>What changed across models and cut-offs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10896"/>
            <a:ext cx="438912" cy="329184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53312"/>
            <a:ext cx="3749039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353312"/>
            <a:ext cx="73152" cy="1234440"/>
          </a:xfrm>
          <a:prstGeom prst="rect">
            <a:avLst/>
          </a:prstGeom>
          <a:solidFill>
            <a:srgbClr val="EB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581912"/>
            <a:ext cx="438912" cy="402336"/>
          </a:xfrm>
          <a:prstGeom prst="roundRect">
            <a:avLst/>
          </a:prstGeom>
          <a:solidFill>
            <a:srgbClr val="EB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81912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1545336"/>
            <a:ext cx="2761487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14213D"/>
                </a:solidFill>
                <a:latin typeface="Aptos Display"/>
              </a:defRPr>
            </a:pPr>
            <a:r>
              <a:t>TF–IDF: best complete 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48256"/>
            <a:ext cx="3291839" cy="3749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52637A"/>
                </a:solidFill>
                <a:latin typeface="Aptos"/>
              </a:defRPr>
            </a:pPr>
            <a:r>
              <a:t>MAP = 0.948. It ranked both relevant items ideally for Q3 and Q4.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70632"/>
            <a:ext cx="3749039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770632"/>
            <a:ext cx="73152" cy="1234440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1832" y="2999232"/>
            <a:ext cx="438912" cy="402336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999232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2962656"/>
            <a:ext cx="2761487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14213D"/>
                </a:solidFill>
                <a:latin typeface="Aptos Display"/>
              </a:defRPr>
            </a:pPr>
            <a:r>
              <a:t>Overlap: best first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465576"/>
            <a:ext cx="3291839" cy="3749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52637A"/>
                </a:solidFill>
                <a:latin typeface="Aptos"/>
              </a:defRPr>
            </a:pPr>
            <a:r>
              <a:t>MRR = 1.000 and P@1 = 1.000, aided by simple term coverage and deterministic 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87952"/>
            <a:ext cx="3749039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4187952"/>
            <a:ext cx="73152" cy="123444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1832" y="4416552"/>
            <a:ext cx="438912" cy="402336"/>
          </a:xfrm>
          <a:prstGeom prst="round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416552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4379976"/>
            <a:ext cx="2761487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14213D"/>
                </a:solidFill>
                <a:latin typeface="Aptos Display"/>
              </a:defRPr>
            </a:pPr>
            <a:r>
              <a:t>Differences are concentrated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82896"/>
            <a:ext cx="3291839" cy="3749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52637A"/>
                </a:solidFill>
                <a:latin typeface="Aptos"/>
              </a:defRPr>
            </a:pPr>
            <a:r>
              <a:t>Five of eight queries tie at AP = 1.000. Q3, Q4, and Q8 drive the model ordering.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1353312"/>
            <a:ext cx="6656832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recall_cuto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645920"/>
            <a:ext cx="6144768" cy="322070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230368" y="5303520"/>
            <a:ext cx="58064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50" b="1">
                <a:solidFill>
                  <a:srgbClr val="52637A"/>
                </a:solidFill>
                <a:latin typeface="Aptos"/>
              </a:defRPr>
            </a:pPr>
            <a:r>
              <a:t>Recall reaches 1.000 by rank 3 for every model; larger k adds non-relevant items and lowers precision.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806440"/>
            <a:ext cx="10744200" cy="384048"/>
          </a:xfrm>
          <a:prstGeom prst="roundRect">
            <a:avLst/>
          </a:prstGeom>
          <a:solidFill>
            <a:srgbClr val="FFF3DF"/>
          </a:solidFill>
          <a:ln w="12700">
            <a:solidFill>
              <a:srgbClr val="F6D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879592"/>
            <a:ext cx="10241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1">
                <a:solidFill>
                  <a:srgbClr val="8A4B08"/>
                </a:solidFill>
                <a:latin typeface="Aptos"/>
              </a:defRPr>
            </a:pPr>
            <a:r>
              <a:t>Do not read a 0.010 MAP difference as decisive: eight queries are too few for a stable winner.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804672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50" b="1">
                <a:solidFill>
                  <a:srgbClr val="4F7CFF"/>
                </a:solidFill>
                <a:latin typeface="Aptos"/>
              </a:defRPr>
            </a:pPr>
            <a:r>
              <a:t>SAMPLE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4241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 Display"/>
              </a:defRPr>
            </a:pPr>
            <a:r>
              <a:t>One query exposes three ranking behaviors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10896"/>
            <a:ext cx="438912" cy="329184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10881360" cy="4526280"/>
          </a:xfrm>
          <a:prstGeom prst="roundRect">
            <a:avLst/>
          </a:prstGeom>
          <a:solidFill>
            <a:srgbClr val="0D131A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anking_output.png"/>
          <p:cNvPicPr>
            <a:picLocks noChangeAspect="1"/>
          </p:cNvPicPr>
          <p:nvPr/>
        </p:nvPicPr>
        <p:blipFill>
          <a:blip r:embed="rId2"/>
          <a:srcRect l="1587" r="1587"/>
          <a:stretch>
            <a:fillRect/>
          </a:stretch>
        </p:blipFill>
        <p:spPr>
          <a:xfrm>
            <a:off x="786384" y="1444752"/>
            <a:ext cx="10625328" cy="4233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" y="5925312"/>
            <a:ext cx="10744200" cy="530352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6053328"/>
            <a:ext cx="96012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50" b="1">
                <a:solidFill>
                  <a:srgbClr val="FFB454"/>
                </a:solidFill>
                <a:latin typeface="Aptos"/>
              </a:defRPr>
            </a:pPr>
            <a:r>
              <a:t>Q8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6007608"/>
            <a:ext cx="90525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t>Overlap ranks relevant S012 first; TF–IDF and BM25 rank non-relevant S003 first because several weighted terms match.</a:t>
            </a:r>
          </a:p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804672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50" b="1">
                <a:solidFill>
                  <a:srgbClr val="4F7CFF"/>
                </a:solidFill>
                <a:latin typeface="Aptos"/>
              </a:defRPr>
            </a:pPr>
            <a:r>
              <a:t>CRITICAL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4241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600" b="1">
                <a:solidFill>
                  <a:srgbClr val="14213D"/>
                </a:solidFill>
                <a:latin typeface="Aptos Display"/>
              </a:defRPr>
            </a:pPr>
            <a:r>
              <a:t>Strong implementation evidence; limited model-selection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10896"/>
            <a:ext cx="438912" cy="329184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53312"/>
            <a:ext cx="5230368" cy="4526280"/>
          </a:xfrm>
          <a:prstGeom prst="roundRect">
            <a:avLst/>
          </a:prstGeom>
          <a:solidFill>
            <a:srgbClr val="EBF8F2"/>
          </a:solidFill>
          <a:ln w="12700">
            <a:solidFill>
              <a:srgbClr val="B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9632" y="1353312"/>
            <a:ext cx="5257800" cy="4526280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4C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82496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155E3E"/>
                </a:solidFill>
                <a:latin typeface="Aptos Display"/>
              </a:defRPr>
            </a:pPr>
            <a:r>
              <a:t>What is strong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43484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00">
                <a:solidFill>
                  <a:srgbClr val="55C38E"/>
                </a:solidFill>
                <a:latin typeface="Aptos"/>
              </a:rPr>
              <a:t>●  </a:t>
            </a:r>
            <a:r>
              <a:rPr sz="1400">
                <a:solidFill>
                  <a:srgbClr val="245844"/>
                </a:solidFill>
                <a:latin typeface="Aptos"/>
              </a:rPr>
              <a:t>Identical controls across models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00">
                <a:solidFill>
                  <a:srgbClr val="55C38E"/>
                </a:solidFill>
                <a:latin typeface="Aptos"/>
              </a:rPr>
              <a:t>●  </a:t>
            </a:r>
            <a:r>
              <a:rPr sz="1400">
                <a:solidFill>
                  <a:srgbClr val="245844"/>
                </a:solidFill>
                <a:latin typeface="Aptos"/>
              </a:rPr>
              <a:t>Transparent, dependency-free scoring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00">
                <a:solidFill>
                  <a:srgbClr val="55C38E"/>
                </a:solidFill>
                <a:latin typeface="Aptos"/>
              </a:rPr>
              <a:t>●  </a:t>
            </a:r>
            <a:r>
              <a:rPr sz="1400">
                <a:solidFill>
                  <a:srgbClr val="245844"/>
                </a:solidFill>
                <a:latin typeface="Aptos"/>
              </a:rPr>
              <a:t>Known-answer metric tests pass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00">
                <a:solidFill>
                  <a:srgbClr val="55C38E"/>
                </a:solidFill>
                <a:latin typeface="Aptos"/>
              </a:rPr>
              <a:t>●  </a:t>
            </a:r>
            <a:r>
              <a:rPr sz="1400">
                <a:solidFill>
                  <a:srgbClr val="245844"/>
                </a:solidFill>
                <a:latin typeface="Aptos"/>
              </a:rPr>
              <a:t>Aggregate and per-query evidence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00">
                <a:solidFill>
                  <a:srgbClr val="55C38E"/>
                </a:solidFill>
                <a:latin typeface="Aptos"/>
              </a:rPr>
              <a:t>●  </a:t>
            </a:r>
            <a:r>
              <a:rPr sz="1400">
                <a:solidFill>
                  <a:srgbClr val="245844"/>
                </a:solidFill>
                <a:latin typeface="Aptos"/>
              </a:rPr>
              <a:t>Reproducible JSON, code, and figures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82496"/>
            <a:ext cx="28346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8B2F35"/>
                </a:solidFill>
                <a:latin typeface="Aptos Display"/>
              </a:defRPr>
            </a:pPr>
            <a:r>
              <a:t>What limits the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43484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00">
                <a:solidFill>
                  <a:srgbClr val="F07178"/>
                </a:solidFill>
                <a:latin typeface="Aptos"/>
              </a:rPr>
              <a:t>●  </a:t>
            </a:r>
            <a:r>
              <a:rPr sz="1400">
                <a:solidFill>
                  <a:srgbClr val="74343A"/>
                </a:solidFill>
                <a:latin typeface="Aptos"/>
              </a:rPr>
              <a:t>Only 18 documents and 8 queries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00">
                <a:solidFill>
                  <a:srgbClr val="F07178"/>
                </a:solidFill>
                <a:latin typeface="Aptos"/>
              </a:rPr>
              <a:t>●  </a:t>
            </a:r>
            <a:r>
              <a:rPr sz="1400">
                <a:solidFill>
                  <a:srgbClr val="74343A"/>
                </a:solidFill>
                <a:latin typeface="Aptos"/>
              </a:rPr>
              <a:t>Manual—not official—judgments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00">
                <a:solidFill>
                  <a:srgbClr val="F07178"/>
                </a:solidFill>
                <a:latin typeface="Aptos"/>
              </a:rPr>
              <a:t>●  </a:t>
            </a:r>
            <a:r>
              <a:rPr sz="1400">
                <a:solidFill>
                  <a:srgbClr val="74343A"/>
                </a:solidFill>
                <a:latin typeface="Aptos"/>
              </a:rPr>
              <a:t>Tie order benefits the overlap model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00">
                <a:solidFill>
                  <a:srgbClr val="F07178"/>
                </a:solidFill>
                <a:latin typeface="Aptos"/>
              </a:rPr>
              <a:t>●  </a:t>
            </a:r>
            <a:r>
              <a:rPr sz="1400">
                <a:solidFill>
                  <a:srgbClr val="74343A"/>
                </a:solidFill>
                <a:latin typeface="Aptos"/>
              </a:rPr>
              <a:t>BM25 parameters were not tuned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00">
                <a:solidFill>
                  <a:srgbClr val="F07178"/>
                </a:solidFill>
                <a:latin typeface="Aptos"/>
              </a:rPr>
              <a:t>●  </a:t>
            </a:r>
            <a:r>
              <a:rPr sz="1400">
                <a:solidFill>
                  <a:srgbClr val="74343A"/>
                </a:solidFill>
                <a:latin typeface="Aptos"/>
              </a:rPr>
              <a:t>Latency is too small to generalize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6016752"/>
            <a:ext cx="10744200" cy="402336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099048"/>
            <a:ext cx="10332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t>Claim boundary  →  the evaluation proves the pipeline, not the best model for full CISI.</a:t>
            </a:r>
          </a:p>
        </p:txBody>
      </p: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804672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50" b="1">
                <a:solidFill>
                  <a:srgbClr val="4F7CFF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4241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 Display"/>
              </a:defRPr>
            </a:pPr>
            <a:r>
              <a:t>Move from demonstration to defensible model selection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10896"/>
            <a:ext cx="438912" cy="329184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10896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47104"/>
            <a:ext cx="10881360" cy="155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Aptos"/>
              </a:defRPr>
            </a:pPr>
            <a:r>
              <a:t>Project repositories prepared: github.com/Chief-spartan-117/week-6-ir-system · /week-7-ir-evaluation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53312"/>
            <a:ext cx="5230368" cy="1097280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353312"/>
            <a:ext cx="73152" cy="1097280"/>
          </a:xfrm>
          <a:prstGeom prst="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" y="1581912"/>
            <a:ext cx="438912" cy="402336"/>
          </a:xfrm>
          <a:prstGeom prst="roundRect">
            <a:avLst/>
          </a:prstGeom>
          <a:solidFill>
            <a:srgbClr val="4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581912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545336"/>
            <a:ext cx="4242816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 Display"/>
              </a:defRPr>
            </a:pPr>
            <a:r>
              <a:t>Run full CISI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48256"/>
            <a:ext cx="47731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C9D4E7"/>
                </a:solidFill>
                <a:latin typeface="Aptos"/>
              </a:defRPr>
            </a:pPr>
            <a:r>
              <a:t>Evaluate all 1,460 documents and official judgments.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53312"/>
            <a:ext cx="5230368" cy="1097280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53312"/>
            <a:ext cx="73152" cy="1097280"/>
          </a:xfrm>
          <a:prstGeom prst="rect">
            <a:avLst/>
          </a:prstGeom>
          <a:solidFill>
            <a:srgbClr val="34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581912"/>
            <a:ext cx="438912" cy="402336"/>
          </a:xfrm>
          <a:prstGeom prst="roundRect">
            <a:avLst/>
          </a:prstGeom>
          <a:solidFill>
            <a:srgbClr val="34D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81912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1545336"/>
            <a:ext cx="4242816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 Display"/>
              </a:defRPr>
            </a:pPr>
            <a:r>
              <a:t>Tune fairly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048256"/>
            <a:ext cx="47731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C9D4E7"/>
                </a:solidFill>
                <a:latin typeface="Aptos"/>
              </a:defRPr>
            </a:pPr>
            <a:r>
              <a:t>Use development queries for BM25 k1/b; keep test queries untouched.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2706624"/>
            <a:ext cx="5230368" cy="1097280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2706624"/>
            <a:ext cx="73152" cy="109728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1832" y="2935224"/>
            <a:ext cx="438912" cy="402336"/>
          </a:xfrm>
          <a:prstGeom prst="round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2935224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" y="2898648"/>
            <a:ext cx="4242816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 Display"/>
              </a:defRPr>
            </a:pPr>
            <a:r>
              <a:t>Quantify uncertainty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401568"/>
            <a:ext cx="47731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C9D4E7"/>
                </a:solidFill>
                <a:latin typeface="Aptos"/>
              </a:defRPr>
            </a:pPr>
            <a:r>
              <a:t>Report paired query differences and confidence intervals.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706624"/>
            <a:ext cx="5230368" cy="1097280"/>
          </a:xfrm>
          <a:prstGeom prst="roundRect">
            <a:avLst/>
          </a:prstGeom>
          <a:solidFill>
            <a:srgbClr val="151D33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706624"/>
            <a:ext cx="73152" cy="1097280"/>
          </a:xfrm>
          <a:prstGeom prst="rect">
            <a:avLst/>
          </a:prstGeom>
          <a:solidFill>
            <a:srgbClr val="EB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46520" y="2935224"/>
            <a:ext cx="438912" cy="402336"/>
          </a:xfrm>
          <a:prstGeom prst="roundRect">
            <a:avLst/>
          </a:prstGeom>
          <a:solidFill>
            <a:srgbClr val="EB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935224"/>
            <a:ext cx="4389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0B102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2898648"/>
            <a:ext cx="4242816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 Display"/>
              </a:defRPr>
            </a:pPr>
            <a:r>
              <a:t>Address vocabulary gaps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3401568"/>
            <a:ext cx="477316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50" b="0">
                <a:solidFill>
                  <a:srgbClr val="C9D4E7"/>
                </a:solidFill>
                <a:latin typeface="Aptos"/>
              </a:defRPr>
            </a:pPr>
            <a:r>
              <a:t>Compare stronger stemming and controlled query expansion.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279392"/>
            <a:ext cx="10744200" cy="1389888"/>
          </a:xfrm>
          <a:prstGeom prst="roundRect">
            <a:avLst/>
          </a:prstGeom>
          <a:solidFill>
            <a:srgbClr val="202B48"/>
          </a:solidFill>
          <a:ln w="12700">
            <a:solidFill>
              <a:srgbClr val="27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553712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34D1BF"/>
                </a:solidFill>
                <a:latin typeface="Aptos"/>
              </a:defRPr>
            </a:pPr>
            <a:r>
              <a:t>Recommended baseline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910328"/>
            <a:ext cx="30175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300" b="1">
                <a:solidFill>
                  <a:srgbClr val="F8FAFC"/>
                </a:solidFill>
                <a:latin typeface="Aptos Display"/>
              </a:defRPr>
            </a:pPr>
            <a:r>
              <a:t>Retain TF–IDF now.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4617720"/>
            <a:ext cx="69037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>
                <a:solidFill>
                  <a:srgbClr val="C9D4E7"/>
                </a:solidFill>
                <a:latin typeface="Aptos"/>
              </a:defRPr>
            </a:pPr>
            <a:r>
              <a:t>It delivered the best demonstration MAP, remains explainable, and requires no fitted parameters. Reconsider only after full-collection evidence.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6053328"/>
            <a:ext cx="10744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FB454"/>
                </a:solidFill>
                <a:latin typeface="Aptos"/>
              </a:defRPr>
            </a:pPr>
            <a:r>
              <a:t>Build → compare → measure → challenge the evidence → iterate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of Information Retrieval Models</dc:title>
  <dc:subject>Week 8 summary of Week 6 and Week 7 CISI IR project</dc:subject>
  <dc:creator>Sagar Shrestha</dc:creator>
  <cp:keywords>information retrieval, CISI, TF-IDF, BM25, evaluation, MAP, nDCG</cp:keywords>
  <dc:description>Generated from executed Week 6–7 project evidence.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